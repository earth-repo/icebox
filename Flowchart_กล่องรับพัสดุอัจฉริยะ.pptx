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0040" y="274320"/>
            <a:ext cx="6922008" cy="45720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20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ภาพรวมระบบ กล่องรับพัสดุอัจฉริยะ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20040" y="713232"/>
            <a:ext cx="6922008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1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อุปกรณ์แต่ละส่วนเชื่อมต่อกันอย่างไร — จากตู้พัสดุถึงโทรศัพท์มือถือ</a:t>
            </a:r>
          </a:p>
        </p:txBody>
      </p:sp>
      <p:sp>
        <p:nvSpPr>
          <p:cNvPr id="4" name="Mains + power switch"/>
          <p:cNvSpPr/>
          <p:nvPr/>
        </p:nvSpPr>
        <p:spPr>
          <a:xfrm>
            <a:off x="2651760" y="1143000"/>
            <a:ext cx="2258568" cy="5486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ไฟบ้าน 220 V → สวิตช์ ON/OFF</a:t>
            </a:r>
          </a:p>
        </p:txBody>
      </p:sp>
      <p:sp>
        <p:nvSpPr>
          <p:cNvPr id="5" name="Adaptor 9V"/>
          <p:cNvSpPr/>
          <p:nvPr/>
        </p:nvSpPr>
        <p:spPr>
          <a:xfrm>
            <a:off x="320040" y="1965960"/>
            <a:ext cx="219456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Adaptor 220 V → 9 V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จ่ายไฟให้ Photo sensor</a:t>
            </a:r>
          </a:p>
        </p:txBody>
      </p:sp>
      <p:sp>
        <p:nvSpPr>
          <p:cNvPr id="6" name="Adaptor 5V"/>
          <p:cNvSpPr/>
          <p:nvPr/>
        </p:nvSpPr>
        <p:spPr>
          <a:xfrm>
            <a:off x="2880360" y="1965960"/>
            <a:ext cx="1801368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Adaptor 220 V → 5 V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จ่ายไฟให้ ESP32</a:t>
            </a:r>
          </a:p>
        </p:txBody>
      </p:sp>
      <p:sp>
        <p:nvSpPr>
          <p:cNvPr id="7" name="Input group"/>
          <p:cNvSpPr/>
          <p:nvPr/>
        </p:nvSpPr>
        <p:spPr>
          <a:xfrm>
            <a:off x="320040" y="2880360"/>
            <a:ext cx="21945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put group title"/>
          <p:cNvSpPr txBox="1"/>
          <p:nvPr/>
        </p:nvSpPr>
        <p:spPr>
          <a:xfrm>
            <a:off x="320040" y="2926080"/>
            <a:ext cx="2194560" cy="3200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100" b="1" lang="th-TH">
                <a:solidFill>
                  <a:srgbClr val="2F5597"/>
                </a:solidFill>
                <a:latin typeface="Tahoma"/>
                <a:ea typeface="Tahoma"/>
                <a:cs typeface="Tahoma"/>
              </a:rPr>
              <a:t>อินพุต (ตรวจจับ)</a:t>
            </a:r>
          </a:p>
        </p:txBody>
      </p:sp>
      <p:sp>
        <p:nvSpPr>
          <p:cNvPr id="9" name="Input 1"/>
          <p:cNvSpPr/>
          <p:nvPr/>
        </p:nvSpPr>
        <p:spPr>
          <a:xfrm>
            <a:off x="457200" y="3310128"/>
            <a:ext cx="1920240" cy="822960"/>
          </a:xfrm>
          <a:prstGeom prst="roundRect">
            <a:avLst/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Photo sensor OPTEX ZD-70P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นับพัสดุ / ตรวจตู้เต็ม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ผ่าน Relay เข้าขา 14</a:t>
            </a:r>
          </a:p>
        </p:txBody>
      </p:sp>
      <p:sp>
        <p:nvSpPr>
          <p:cNvPr id="10" name="Input 2"/>
          <p:cNvSpPr/>
          <p:nvPr/>
        </p:nvSpPr>
        <p:spPr>
          <a:xfrm>
            <a:off x="457200" y="4224528"/>
            <a:ext cx="1920240" cy="603504"/>
          </a:xfrm>
          <a:prstGeom prst="roundRect">
            <a:avLst/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Limit switch ฝาบน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ประตูรับพัสดุเข้า (ขา 27)</a:t>
            </a:r>
          </a:p>
        </p:txBody>
      </p:sp>
      <p:sp>
        <p:nvSpPr>
          <p:cNvPr id="11" name="Input 3"/>
          <p:cNvSpPr/>
          <p:nvPr/>
        </p:nvSpPr>
        <p:spPr>
          <a:xfrm>
            <a:off x="457200" y="4919472"/>
            <a:ext cx="1920240" cy="603504"/>
          </a:xfrm>
          <a:prstGeom prst="roundRect">
            <a:avLst/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Limit switch ฝาล่าง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ประตูนำพัสดุออก (ขา 13)</a:t>
            </a:r>
          </a:p>
        </p:txBody>
      </p:sp>
      <p:sp>
        <p:nvSpPr>
          <p:cNvPr id="12" name="Input 4"/>
          <p:cNvSpPr/>
          <p:nvPr/>
        </p:nvSpPr>
        <p:spPr>
          <a:xfrm>
            <a:off x="457200" y="5614416"/>
            <a:ext cx="1920240" cy="603504"/>
          </a:xfrm>
          <a:prstGeom prst="roundRect">
            <a:avLst/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Push switch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ปุ่มรีเซ็ต (ขา 15)</a:t>
            </a:r>
          </a:p>
        </p:txBody>
      </p:sp>
      <p:sp>
        <p:nvSpPr>
          <p:cNvPr id="13" name="ESP32"/>
          <p:cNvSpPr/>
          <p:nvPr/>
        </p:nvSpPr>
        <p:spPr>
          <a:xfrm>
            <a:off x="2880360" y="3474720"/>
            <a:ext cx="1801368" cy="224028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600" b="1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ESP32</a:t>
            </a:r>
          </a:p>
          <a:p>
            <a:pPr algn="ctr"/>
            <a:r>
              <a:rPr sz="1050" b="0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(ตัวควบคุม)</a:t>
            </a:r>
          </a:p>
          <a:p>
            <a:pPr algn="ctr"/>
          </a:p>
          <a:p>
            <a:pPr algn="ctr"/>
            <a:r>
              <a:rPr sz="1050" b="0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นับจำนวนพัสดุ</a:t>
            </a:r>
          </a:p>
          <a:p>
            <a:pPr algn="ctr"/>
            <a:r>
              <a:rPr sz="1050" b="0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ตัดสินสถานะตู้</a:t>
            </a:r>
          </a:p>
          <a:p>
            <a:pPr algn="ctr"/>
            <a:r>
              <a:rPr sz="1050" b="0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จำค่าไว้ใน Flash</a:t>
            </a:r>
          </a:p>
          <a:p>
            <a:pPr algn="ctr"/>
            <a:r>
              <a:rPr sz="1050" b="0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ส่งข้อมูลผ่าน WiFi</a:t>
            </a:r>
          </a:p>
        </p:txBody>
      </p:sp>
      <p:sp>
        <p:nvSpPr>
          <p:cNvPr id="14" name="Output group"/>
          <p:cNvSpPr/>
          <p:nvPr/>
        </p:nvSpPr>
        <p:spPr>
          <a:xfrm>
            <a:off x="5047488" y="2880360"/>
            <a:ext cx="21945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utput group title"/>
          <p:cNvSpPr txBox="1"/>
          <p:nvPr/>
        </p:nvSpPr>
        <p:spPr>
          <a:xfrm>
            <a:off x="5047488" y="2926080"/>
            <a:ext cx="2194560" cy="3200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1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เอาต์พุต (ไฟ LED)</a:t>
            </a:r>
          </a:p>
        </p:txBody>
      </p:sp>
      <p:sp>
        <p:nvSpPr>
          <p:cNvPr id="16" name="LED 1"/>
          <p:cNvSpPr/>
          <p:nvPr/>
        </p:nvSpPr>
        <p:spPr>
          <a:xfrm>
            <a:off x="5184648" y="3310128"/>
            <a:ext cx="1920240" cy="621792"/>
          </a:xfrm>
          <a:prstGeom prst="roundRect">
            <a:avLst/>
          </a:prstGeom>
          <a:solidFill>
            <a:srgbClr val="FD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แดง (ขา 33)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ตู้เต็ม = ติด  ประตูเปิด = กะพริบ</a:t>
            </a:r>
          </a:p>
        </p:txBody>
      </p:sp>
      <p:sp>
        <p:nvSpPr>
          <p:cNvPr id="17" name="LED 2"/>
          <p:cNvSpPr/>
          <p:nvPr/>
        </p:nvSpPr>
        <p:spPr>
          <a:xfrm>
            <a:off x="5184648" y="4023360"/>
            <a:ext cx="1920240" cy="62179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เหลือง (ขา 26)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มีพัสดุอยู่ในตู้</a:t>
            </a:r>
          </a:p>
        </p:txBody>
      </p:sp>
      <p:sp>
        <p:nvSpPr>
          <p:cNvPr id="18" name="LED 3"/>
          <p:cNvSpPr/>
          <p:nvPr/>
        </p:nvSpPr>
        <p:spPr>
          <a:xfrm>
            <a:off x="5184648" y="4736592"/>
            <a:ext cx="1920240" cy="621792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เขียว (ขา 25)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ตู้ว่าง พร้อมรับพัสดุ</a:t>
            </a:r>
          </a:p>
        </p:txBody>
      </p:sp>
      <p:sp>
        <p:nvSpPr>
          <p:cNvPr id="19" name="Door LEDs"/>
          <p:cNvSpPr/>
          <p:nvPr/>
        </p:nvSpPr>
        <p:spPr>
          <a:xfrm>
            <a:off x="5184648" y="5449824"/>
            <a:ext cx="1920240" cy="7680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แดง 2 ดวงบนกล่องควบคุม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ติดเมื่อประตูบน / ล่างเปิด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(ต่อร่วมกับ Limit switch)</a:t>
            </a:r>
          </a:p>
        </p:txBody>
      </p:sp>
      <p:cxnSp>
        <p:nvCxnSpPr>
          <p:cNvPr id="20" name="Connector 19"/>
          <p:cNvCxnSpPr>
            <a:stCxn id="4" idx="2"/>
            <a:endCxn id="6" idx="0"/>
          </p:cNvCxnSpPr>
          <p:nvPr/>
        </p:nvCxnSpPr>
        <p:spPr>
          <a:xfrm flipH="1">
            <a:off x="3781044" y="1691640"/>
            <a:ext cx="0" cy="2743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4" idx="1"/>
            <a:endCxn id="5" idx="0"/>
          </p:cNvCxnSpPr>
          <p:nvPr/>
        </p:nvCxnSpPr>
        <p:spPr>
          <a:xfrm flipH="1">
            <a:off x="1417320" y="1417320"/>
            <a:ext cx="1234440" cy="548640"/>
          </a:xfrm>
          <a:prstGeom prst="bentConnector2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5" idx="2"/>
            <a:endCxn id="7" idx="0"/>
          </p:cNvCxnSpPr>
          <p:nvPr/>
        </p:nvCxnSpPr>
        <p:spPr>
          <a:xfrm flipH="1">
            <a:off x="1417320" y="2606040"/>
            <a:ext cx="0" cy="2743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6" idx="2"/>
            <a:endCxn id="13" idx="0"/>
          </p:cNvCxnSpPr>
          <p:nvPr/>
        </p:nvCxnSpPr>
        <p:spPr>
          <a:xfrm flipH="1">
            <a:off x="3781044" y="2606040"/>
            <a:ext cx="0" cy="86868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7" idx="3"/>
            <a:endCxn id="13" idx="1"/>
          </p:cNvCxnSpPr>
          <p:nvPr/>
        </p:nvCxnSpPr>
        <p:spPr>
          <a:xfrm flipV="1">
            <a:off x="2514600" y="4594860"/>
            <a:ext cx="3657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3" idx="3"/>
            <a:endCxn id="14" idx="1"/>
          </p:cNvCxnSpPr>
          <p:nvPr/>
        </p:nvCxnSpPr>
        <p:spPr>
          <a:xfrm flipV="1">
            <a:off x="4681728" y="4594860"/>
            <a:ext cx="3657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WiFi"/>
          <p:cNvSpPr/>
          <p:nvPr/>
        </p:nvSpPr>
        <p:spPr>
          <a:xfrm>
            <a:off x="2523744" y="6629400"/>
            <a:ext cx="2514600" cy="5486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WiFi ในบ้าน → อินเทอร์เน็ต</a:t>
            </a:r>
          </a:p>
        </p:txBody>
      </p:sp>
      <p:cxnSp>
        <p:nvCxnSpPr>
          <p:cNvPr id="27" name="Connector 26"/>
          <p:cNvCxnSpPr>
            <a:stCxn id="13" idx="2"/>
            <a:endCxn id="26" idx="0"/>
          </p:cNvCxnSpPr>
          <p:nvPr/>
        </p:nvCxnSpPr>
        <p:spPr>
          <a:xfrm flipH="1">
            <a:off x="3781044" y="5715000"/>
            <a:ext cx="0" cy="91440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legram"/>
          <p:cNvSpPr/>
          <p:nvPr/>
        </p:nvSpPr>
        <p:spPr>
          <a:xfrm>
            <a:off x="685800" y="7498079"/>
            <a:ext cx="2834640" cy="822960"/>
          </a:xfrm>
          <a:prstGeom prst="roundRect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Telegram Bot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ส่งข้อความแจ้งเตือน</a:t>
            </a:r>
          </a:p>
        </p:txBody>
      </p:sp>
      <p:sp>
        <p:nvSpPr>
          <p:cNvPr id="29" name="Firebase"/>
          <p:cNvSpPr/>
          <p:nvPr/>
        </p:nvSpPr>
        <p:spPr>
          <a:xfrm>
            <a:off x="4041648" y="7498079"/>
            <a:ext cx="2834640" cy="82296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Firebase Realtime Database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เก็บสถานะ เหตุการณ์ และสถิติ</a:t>
            </a:r>
          </a:p>
        </p:txBody>
      </p:sp>
      <p:cxnSp>
        <p:nvCxnSpPr>
          <p:cNvPr id="30" name="Connector 29"/>
          <p:cNvCxnSpPr>
            <a:stCxn id="26" idx="2"/>
            <a:endCxn id="28" idx="0"/>
          </p:cNvCxnSpPr>
          <p:nvPr/>
        </p:nvCxnSpPr>
        <p:spPr>
          <a:xfrm rot="5400000">
            <a:off x="2782063" y="6499097"/>
            <a:ext cx="320039" cy="1677924"/>
          </a:xfrm>
          <a:prstGeom prst="bentConnector3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6" idx="2"/>
            <a:endCxn id="29" idx="0"/>
          </p:cNvCxnSpPr>
          <p:nvPr/>
        </p:nvCxnSpPr>
        <p:spPr>
          <a:xfrm rot="5400000" flipV="1">
            <a:off x="4459987" y="6499097"/>
            <a:ext cx="320039" cy="1677924"/>
          </a:xfrm>
          <a:prstGeom prst="bentConnector3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hone"/>
          <p:cNvSpPr/>
          <p:nvPr/>
        </p:nvSpPr>
        <p:spPr>
          <a:xfrm>
            <a:off x="685800" y="8686800"/>
            <a:ext cx="28346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โทรศัพท์มือถือ (แอป Telegram)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ได้รับข้อความทันที เช่น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“มีพัสดุมาส่ง” “ตู้พัสดุเต็มแล้ว”</a:t>
            </a:r>
          </a:p>
        </p:txBody>
      </p:sp>
      <p:sp>
        <p:nvSpPr>
          <p:cNvPr id="33" name="Dashboard"/>
          <p:cNvSpPr/>
          <p:nvPr/>
        </p:nvSpPr>
        <p:spPr>
          <a:xfrm>
            <a:off x="4041648" y="8686800"/>
            <a:ext cx="28346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Dashboard (หน้าเว็บ)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จำนวนพัสดุ • สถานะตู้ • ประตูเปิด-ปิด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สถิติ • ประวัติเหตุการณ์</a:t>
            </a:r>
          </a:p>
        </p:txBody>
      </p:sp>
      <p:cxnSp>
        <p:nvCxnSpPr>
          <p:cNvPr id="34" name="Connector 33"/>
          <p:cNvCxnSpPr>
            <a:stCxn id="28" idx="2"/>
            <a:endCxn id="32" idx="0"/>
          </p:cNvCxnSpPr>
          <p:nvPr/>
        </p:nvCxnSpPr>
        <p:spPr>
          <a:xfrm flipH="1">
            <a:off x="2103120" y="8321039"/>
            <a:ext cx="0" cy="36576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9" idx="2"/>
            <a:endCxn id="33" idx="0"/>
          </p:cNvCxnSpPr>
          <p:nvPr/>
        </p:nvCxnSpPr>
        <p:spPr>
          <a:xfrm flipH="1">
            <a:off x="5458968" y="8321039"/>
            <a:ext cx="0" cy="36576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age number"/>
          <p:cNvSpPr txBox="1"/>
          <p:nvPr/>
        </p:nvSpPr>
        <p:spPr>
          <a:xfrm>
            <a:off x="3323844" y="10332720"/>
            <a:ext cx="91440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fld id="{B6F15528-21DE-4FAA-801E-634DDDAF4B2B}" type="slidenum"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‹#›</a:t>
            </a:fld>
            <a:r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0040" y="274320"/>
            <a:ext cx="6922008" cy="45720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20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แผนผังวงจร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20040" y="713232"/>
            <a:ext cx="6922008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1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อุปกรณ์แต่ละตัวต่อเข้าขาใดของ ESP32 — ตรงกับโปรแกรม iceBox.ino</a:t>
            </a:r>
          </a:p>
        </p:txBody>
      </p:sp>
      <p:pic>
        <p:nvPicPr>
          <p:cNvPr id="4" name="ESP32 board" descr="esp32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566160"/>
            <a:ext cx="2651760" cy="4105950"/>
          </a:xfrm>
          <a:prstGeom prst="rect">
            <a:avLst/>
          </a:prstGeom>
        </p:spPr>
      </p:pic>
      <p:sp>
        <p:nvSpPr>
          <p:cNvPr id="5" name="ESP32 name"/>
          <p:cNvSpPr txBox="1"/>
          <p:nvPr/>
        </p:nvSpPr>
        <p:spPr>
          <a:xfrm>
            <a:off x="1554480" y="7690398"/>
            <a:ext cx="265176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ESP32 (38 ขา บน screw board)</a:t>
            </a:r>
          </a:p>
        </p:txBody>
      </p:sp>
      <p:sp>
        <p:nvSpPr>
          <p:cNvPr id="6" name="Terminal 5V"/>
          <p:cNvSpPr/>
          <p:nvPr/>
        </p:nvSpPr>
        <p:spPr>
          <a:xfrm>
            <a:off x="4206240" y="3821454"/>
            <a:ext cx="329184" cy="173736"/>
          </a:xfrm>
          <a:prstGeom prst="rect">
            <a:avLst/>
          </a:prstGeom>
          <a:solidFill>
            <a:srgbClr val="FDE2E2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5V</a:t>
            </a:r>
          </a:p>
        </p:txBody>
      </p:sp>
      <p:sp>
        <p:nvSpPr>
          <p:cNvPr id="7" name="Terminal 13"/>
          <p:cNvSpPr/>
          <p:nvPr/>
        </p:nvSpPr>
        <p:spPr>
          <a:xfrm>
            <a:off x="4206240" y="4574212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8" name="Terminal GND"/>
          <p:cNvSpPr/>
          <p:nvPr/>
        </p:nvSpPr>
        <p:spPr>
          <a:xfrm>
            <a:off x="4206240" y="4762401"/>
            <a:ext cx="329184" cy="173736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9" name="Terminal 14"/>
          <p:cNvSpPr/>
          <p:nvPr/>
        </p:nvSpPr>
        <p:spPr>
          <a:xfrm>
            <a:off x="4206240" y="5138780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Terminal 27"/>
          <p:cNvSpPr/>
          <p:nvPr/>
        </p:nvSpPr>
        <p:spPr>
          <a:xfrm>
            <a:off x="4206240" y="5326969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  <p:sp>
        <p:nvSpPr>
          <p:cNvPr id="11" name="Terminal 26"/>
          <p:cNvSpPr/>
          <p:nvPr/>
        </p:nvSpPr>
        <p:spPr>
          <a:xfrm>
            <a:off x="4206240" y="5515159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  <p:sp>
        <p:nvSpPr>
          <p:cNvPr id="12" name="Terminal 25"/>
          <p:cNvSpPr/>
          <p:nvPr/>
        </p:nvSpPr>
        <p:spPr>
          <a:xfrm>
            <a:off x="4206240" y="5703348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  <p:sp>
        <p:nvSpPr>
          <p:cNvPr id="13" name="Terminal 33"/>
          <p:cNvSpPr/>
          <p:nvPr/>
        </p:nvSpPr>
        <p:spPr>
          <a:xfrm>
            <a:off x="4206240" y="5891538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</a:t>
            </a:r>
          </a:p>
        </p:txBody>
      </p:sp>
      <p:sp>
        <p:nvSpPr>
          <p:cNvPr id="14" name="Terminal 15"/>
          <p:cNvSpPr/>
          <p:nvPr/>
        </p:nvSpPr>
        <p:spPr>
          <a:xfrm>
            <a:off x="1225295" y="4386022"/>
            <a:ext cx="329184" cy="173736"/>
          </a:xfrm>
          <a:prstGeom prst="rect">
            <a:avLst/>
          </a:prstGeom>
          <a:solidFill>
            <a:srgbClr val="FFF7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5" name="AC mains"/>
          <p:cNvSpPr/>
          <p:nvPr/>
        </p:nvSpPr>
        <p:spPr>
          <a:xfrm>
            <a:off x="2377440" y="1097280"/>
            <a:ext cx="1783080" cy="329184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ไฟบ้าน 220 V AC</a:t>
            </a:r>
          </a:p>
        </p:txBody>
      </p:sp>
      <p:sp>
        <p:nvSpPr>
          <p:cNvPr id="16" name="Power switch"/>
          <p:cNvSpPr/>
          <p:nvPr/>
        </p:nvSpPr>
        <p:spPr>
          <a:xfrm>
            <a:off x="2011680" y="1600200"/>
            <a:ext cx="2514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ower switch photo" descr="power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1636776"/>
            <a:ext cx="521208" cy="521208"/>
          </a:xfrm>
          <a:prstGeom prst="rect">
            <a:avLst/>
          </a:prstGeom>
        </p:spPr>
      </p:pic>
      <p:sp>
        <p:nvSpPr>
          <p:cNvPr id="18" name="Power switch name"/>
          <p:cNvSpPr txBox="1"/>
          <p:nvPr/>
        </p:nvSpPr>
        <p:spPr>
          <a:xfrm>
            <a:off x="2596896" y="1600200"/>
            <a:ext cx="1892807" cy="59436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สวิตช์กดค้าง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ON/OFF</a:t>
            </a:r>
          </a:p>
        </p:txBody>
      </p:sp>
      <p:sp>
        <p:nvSpPr>
          <p:cNvPr id="19" name="Adaptor 5V"/>
          <p:cNvSpPr/>
          <p:nvPr/>
        </p:nvSpPr>
        <p:spPr>
          <a:xfrm>
            <a:off x="2011680" y="2377440"/>
            <a:ext cx="2514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Adaptor 5V photo" descr="adaptor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2414016"/>
            <a:ext cx="710738" cy="521208"/>
          </a:xfrm>
          <a:prstGeom prst="rect">
            <a:avLst/>
          </a:prstGeom>
        </p:spPr>
      </p:pic>
      <p:sp>
        <p:nvSpPr>
          <p:cNvPr id="21" name="Adaptor 5V name"/>
          <p:cNvSpPr txBox="1"/>
          <p:nvPr/>
        </p:nvSpPr>
        <p:spPr>
          <a:xfrm>
            <a:off x="2786426" y="2377440"/>
            <a:ext cx="1703277" cy="59436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Adaptor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220 V → 5 V DC</a:t>
            </a:r>
          </a:p>
        </p:txBody>
      </p:sp>
      <p:sp>
        <p:nvSpPr>
          <p:cNvPr id="22" name="Adaptor 9V"/>
          <p:cNvSpPr/>
          <p:nvPr/>
        </p:nvSpPr>
        <p:spPr>
          <a:xfrm>
            <a:off x="5120640" y="2377440"/>
            <a:ext cx="216712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Adaptor 9V photo" descr="adaptor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2414016"/>
            <a:ext cx="710738" cy="521208"/>
          </a:xfrm>
          <a:prstGeom prst="rect">
            <a:avLst/>
          </a:prstGeom>
        </p:spPr>
      </p:pic>
      <p:sp>
        <p:nvSpPr>
          <p:cNvPr id="24" name="Adaptor 9V name"/>
          <p:cNvSpPr txBox="1"/>
          <p:nvPr/>
        </p:nvSpPr>
        <p:spPr>
          <a:xfrm>
            <a:off x="5895386" y="2377440"/>
            <a:ext cx="1355805" cy="59436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Adaptor</a:t>
            </a:r>
          </a:p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220 V → 9 V DC</a:t>
            </a:r>
          </a:p>
        </p:txBody>
      </p:sp>
      <p:cxnSp>
        <p:nvCxnSpPr>
          <p:cNvPr id="25" name="Connector 24"/>
          <p:cNvCxnSpPr>
            <a:stCxn id="15" idx="2"/>
            <a:endCxn id="16" idx="0"/>
          </p:cNvCxnSpPr>
          <p:nvPr/>
        </p:nvCxnSpPr>
        <p:spPr>
          <a:xfrm flipH="1">
            <a:off x="3268980" y="1426464"/>
            <a:ext cx="0" cy="173736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2"/>
            <a:endCxn id="19" idx="0"/>
          </p:cNvCxnSpPr>
          <p:nvPr/>
        </p:nvCxnSpPr>
        <p:spPr>
          <a:xfrm flipH="1">
            <a:off x="3268980" y="2194560"/>
            <a:ext cx="0" cy="18288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6" idx="3"/>
            <a:endCxn id="22" idx="0"/>
          </p:cNvCxnSpPr>
          <p:nvPr/>
        </p:nvCxnSpPr>
        <p:spPr>
          <a:xfrm>
            <a:off x="4526280" y="1897380"/>
            <a:ext cx="1677924" cy="480060"/>
          </a:xfrm>
          <a:prstGeom prst="bentConnector2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rminal +5V"/>
          <p:cNvSpPr/>
          <p:nvPr/>
        </p:nvSpPr>
        <p:spPr>
          <a:xfrm>
            <a:off x="4165091" y="2971800"/>
            <a:ext cx="411480" cy="201168"/>
          </a:xfrm>
          <a:prstGeom prst="rect">
            <a:avLst/>
          </a:prstGeom>
          <a:solidFill>
            <a:srgbClr val="FDE2E2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+5V</a:t>
            </a:r>
          </a:p>
        </p:txBody>
      </p:sp>
      <p:sp>
        <p:nvSpPr>
          <p:cNvPr id="29" name="Terminal 0V = GND"/>
          <p:cNvSpPr/>
          <p:nvPr/>
        </p:nvSpPr>
        <p:spPr>
          <a:xfrm>
            <a:off x="3291840" y="2971800"/>
            <a:ext cx="7772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0V = GND</a:t>
            </a:r>
          </a:p>
        </p:txBody>
      </p:sp>
      <p:sp>
        <p:nvSpPr>
          <p:cNvPr id="30" name="Terminal +9V"/>
          <p:cNvSpPr/>
          <p:nvPr/>
        </p:nvSpPr>
        <p:spPr>
          <a:xfrm>
            <a:off x="6903720" y="2971800"/>
            <a:ext cx="384048" cy="201168"/>
          </a:xfrm>
          <a:prstGeom prst="rect">
            <a:avLst/>
          </a:prstGeom>
          <a:solidFill>
            <a:srgbClr val="FDE2E2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+9V</a:t>
            </a:r>
          </a:p>
        </p:txBody>
      </p:sp>
      <p:sp>
        <p:nvSpPr>
          <p:cNvPr id="31" name="Terminal 0V = GND"/>
          <p:cNvSpPr/>
          <p:nvPr/>
        </p:nvSpPr>
        <p:spPr>
          <a:xfrm>
            <a:off x="6035040" y="2971800"/>
            <a:ext cx="7772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0V = GND</a:t>
            </a:r>
          </a:p>
        </p:txBody>
      </p:sp>
      <p:cxnSp>
        <p:nvCxnSpPr>
          <p:cNvPr id="32" name="Connector 31"/>
          <p:cNvCxnSpPr>
            <a:stCxn id="28" idx="2"/>
            <a:endCxn id="6" idx="0"/>
          </p:cNvCxnSpPr>
          <p:nvPr/>
        </p:nvCxnSpPr>
        <p:spPr>
          <a:xfrm>
            <a:off x="4370831" y="3172968"/>
            <a:ext cx="1" cy="648486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oor LED"/>
          <p:cNvSpPr/>
          <p:nvPr/>
        </p:nvSpPr>
        <p:spPr>
          <a:xfrm>
            <a:off x="5120640" y="3383280"/>
            <a:ext cx="777240" cy="310896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Door LED photo" descr="led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3419856"/>
            <a:ext cx="190195" cy="237744"/>
          </a:xfrm>
          <a:prstGeom prst="rect">
            <a:avLst/>
          </a:prstGeom>
        </p:spPr>
      </p:pic>
      <p:sp>
        <p:nvSpPr>
          <p:cNvPr id="35" name="Door LED name"/>
          <p:cNvSpPr txBox="1"/>
          <p:nvPr/>
        </p:nvSpPr>
        <p:spPr>
          <a:xfrm>
            <a:off x="5374843" y="3383280"/>
            <a:ext cx="486460" cy="31089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แดง</a:t>
            </a:r>
          </a:p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(ขวา)</a:t>
            </a:r>
          </a:p>
        </p:txBody>
      </p:sp>
      <p:sp>
        <p:nvSpPr>
          <p:cNvPr id="36" name="R 330"/>
          <p:cNvSpPr/>
          <p:nvPr/>
        </p:nvSpPr>
        <p:spPr>
          <a:xfrm>
            <a:off x="5961888" y="3410712"/>
            <a:ext cx="502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330 Ω</a:t>
            </a:r>
          </a:p>
        </p:txBody>
      </p:sp>
      <p:sp>
        <p:nvSpPr>
          <p:cNvPr id="37" name="Terminal +5V"/>
          <p:cNvSpPr/>
          <p:nvPr/>
        </p:nvSpPr>
        <p:spPr>
          <a:xfrm>
            <a:off x="6519672" y="3438144"/>
            <a:ext cx="365760" cy="201168"/>
          </a:xfrm>
          <a:prstGeom prst="rect">
            <a:avLst/>
          </a:prstGeom>
          <a:solidFill>
            <a:srgbClr val="FDE2E2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+5V</a:t>
            </a:r>
          </a:p>
        </p:txBody>
      </p:sp>
      <p:sp>
        <p:nvSpPr>
          <p:cNvPr id="38" name="Limit switch"/>
          <p:cNvSpPr/>
          <p:nvPr/>
        </p:nvSpPr>
        <p:spPr>
          <a:xfrm>
            <a:off x="5120640" y="3794760"/>
            <a:ext cx="1344168" cy="54864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Limit switch photo" descr="lim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3831336"/>
            <a:ext cx="648392" cy="475488"/>
          </a:xfrm>
          <a:prstGeom prst="rect">
            <a:avLst/>
          </a:prstGeom>
        </p:spPr>
      </p:pic>
      <p:sp>
        <p:nvSpPr>
          <p:cNvPr id="40" name="Limit switch name"/>
          <p:cNvSpPr txBox="1"/>
          <p:nvPr/>
        </p:nvSpPr>
        <p:spPr>
          <a:xfrm>
            <a:off x="5833040" y="3794760"/>
            <a:ext cx="595191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Limit switch</a:t>
            </a:r>
          </a:p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ฝาล่าง</a:t>
            </a:r>
          </a:p>
        </p:txBody>
      </p:sp>
      <p:sp>
        <p:nvSpPr>
          <p:cNvPr id="41" name="Terminal GND"/>
          <p:cNvSpPr/>
          <p:nvPr/>
        </p:nvSpPr>
        <p:spPr>
          <a:xfrm>
            <a:off x="6519672" y="3968496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42" name="Join"/>
          <p:cNvSpPr/>
          <p:nvPr/>
        </p:nvSpPr>
        <p:spPr>
          <a:xfrm>
            <a:off x="4983480" y="4023360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>
            <a:stCxn id="37" idx="1"/>
            <a:endCxn id="36" idx="3"/>
          </p:cNvCxnSpPr>
          <p:nvPr/>
        </p:nvCxnSpPr>
        <p:spPr>
          <a:xfrm flipH="1" flipV="1">
            <a:off x="6464808" y="3538728"/>
            <a:ext cx="54864" cy="0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36" idx="1"/>
            <a:endCxn id="33" idx="3"/>
          </p:cNvCxnSpPr>
          <p:nvPr/>
        </p:nvCxnSpPr>
        <p:spPr>
          <a:xfrm flipH="1" flipV="1">
            <a:off x="5897880" y="3538728"/>
            <a:ext cx="64008" cy="0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33" idx="1"/>
            <a:endCxn id="42" idx="0"/>
          </p:cNvCxnSpPr>
          <p:nvPr/>
        </p:nvCxnSpPr>
        <p:spPr>
          <a:xfrm flipH="1">
            <a:off x="5029200" y="3538728"/>
            <a:ext cx="91440" cy="484632"/>
          </a:xfrm>
          <a:prstGeom prst="bentConnector2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42" idx="3"/>
            <a:endCxn id="38" idx="1"/>
          </p:cNvCxnSpPr>
          <p:nvPr/>
        </p:nvCxnSpPr>
        <p:spPr>
          <a:xfrm flipV="1">
            <a:off x="5074920" y="4069080"/>
            <a:ext cx="4572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38" idx="3"/>
            <a:endCxn id="41" idx="1"/>
          </p:cNvCxnSpPr>
          <p:nvPr/>
        </p:nvCxnSpPr>
        <p:spPr>
          <a:xfrm flipV="1">
            <a:off x="6464808" y="4069080"/>
            <a:ext cx="54864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7" idx="3"/>
            <a:endCxn id="42" idx="1"/>
          </p:cNvCxnSpPr>
          <p:nvPr/>
        </p:nvCxnSpPr>
        <p:spPr>
          <a:xfrm flipV="1">
            <a:off x="4535424" y="4069080"/>
            <a:ext cx="448056" cy="592000"/>
          </a:xfrm>
          <a:prstGeom prst="bentConnector3">
            <a:avLst>
              <a:gd name="adj1" fmla="val 48980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hoto sensor"/>
          <p:cNvSpPr/>
          <p:nvPr/>
        </p:nvSpPr>
        <p:spPr>
          <a:xfrm>
            <a:off x="5394960" y="4480560"/>
            <a:ext cx="1508760" cy="50292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hoto sensor photo" descr="sens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536" y="4517136"/>
            <a:ext cx="586047" cy="429768"/>
          </a:xfrm>
          <a:prstGeom prst="rect">
            <a:avLst/>
          </a:prstGeom>
        </p:spPr>
      </p:pic>
      <p:sp>
        <p:nvSpPr>
          <p:cNvPr id="51" name="Photo sensor name"/>
          <p:cNvSpPr txBox="1"/>
          <p:nvPr/>
        </p:nvSpPr>
        <p:spPr>
          <a:xfrm>
            <a:off x="6045015" y="4480560"/>
            <a:ext cx="822128" cy="5029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Photo sensor</a:t>
            </a:r>
          </a:p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OPTEX ZD-70P</a:t>
            </a:r>
          </a:p>
        </p:txBody>
      </p:sp>
      <p:sp>
        <p:nvSpPr>
          <p:cNvPr id="52" name="Terminal +V"/>
          <p:cNvSpPr/>
          <p:nvPr/>
        </p:nvSpPr>
        <p:spPr>
          <a:xfrm>
            <a:off x="6903720" y="4498848"/>
            <a:ext cx="384048" cy="201168"/>
          </a:xfrm>
          <a:prstGeom prst="rect">
            <a:avLst/>
          </a:prstGeom>
          <a:solidFill>
            <a:srgbClr val="FDE2E2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+V</a:t>
            </a:r>
          </a:p>
        </p:txBody>
      </p:sp>
      <p:sp>
        <p:nvSpPr>
          <p:cNvPr id="53" name="Terminal GND"/>
          <p:cNvSpPr/>
          <p:nvPr/>
        </p:nvSpPr>
        <p:spPr>
          <a:xfrm>
            <a:off x="6903720" y="4754880"/>
            <a:ext cx="38404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54" name="Terminal OUT"/>
          <p:cNvSpPr/>
          <p:nvPr/>
        </p:nvSpPr>
        <p:spPr>
          <a:xfrm>
            <a:off x="5760720" y="4983480"/>
            <a:ext cx="411480" cy="182880"/>
          </a:xfrm>
          <a:prstGeom prst="rect">
            <a:avLst/>
          </a:prstGeom>
          <a:solidFill>
            <a:srgbClr val="E3ECFB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OUT</a:t>
            </a:r>
          </a:p>
        </p:txBody>
      </p:sp>
      <p:cxnSp>
        <p:nvCxnSpPr>
          <p:cNvPr id="55" name="Connector 54"/>
          <p:cNvCxnSpPr>
            <a:stCxn id="30" idx="2"/>
            <a:endCxn id="52" idx="0"/>
          </p:cNvCxnSpPr>
          <p:nvPr/>
        </p:nvCxnSpPr>
        <p:spPr>
          <a:xfrm flipH="1">
            <a:off x="7095744" y="3172968"/>
            <a:ext cx="0" cy="1325880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lay"/>
          <p:cNvSpPr/>
          <p:nvPr/>
        </p:nvSpPr>
        <p:spPr>
          <a:xfrm>
            <a:off x="5394960" y="553212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Relay photo" descr="re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536" y="5568696"/>
            <a:ext cx="648392" cy="475488"/>
          </a:xfrm>
          <a:prstGeom prst="rect">
            <a:avLst/>
          </a:prstGeom>
        </p:spPr>
      </p:pic>
      <p:sp>
        <p:nvSpPr>
          <p:cNvPr id="58" name="Relay name"/>
          <p:cNvSpPr txBox="1"/>
          <p:nvPr/>
        </p:nvSpPr>
        <p:spPr>
          <a:xfrm>
            <a:off x="6107360" y="5532120"/>
            <a:ext cx="759783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Relay</a:t>
            </a:r>
          </a:p>
        </p:txBody>
      </p:sp>
      <p:sp>
        <p:nvSpPr>
          <p:cNvPr id="59" name="Terminal คอยล์"/>
          <p:cNvSpPr/>
          <p:nvPr/>
        </p:nvSpPr>
        <p:spPr>
          <a:xfrm>
            <a:off x="5760720" y="5349240"/>
            <a:ext cx="411480" cy="182880"/>
          </a:xfrm>
          <a:prstGeom prst="rect">
            <a:avLst/>
          </a:prstGeom>
          <a:solidFill>
            <a:srgbClr val="FFF2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คอยล์</a:t>
            </a:r>
          </a:p>
        </p:txBody>
      </p:sp>
      <p:sp>
        <p:nvSpPr>
          <p:cNvPr id="60" name="Terminal คอยล์"/>
          <p:cNvSpPr/>
          <p:nvPr/>
        </p:nvSpPr>
        <p:spPr>
          <a:xfrm>
            <a:off x="5760720" y="6080760"/>
            <a:ext cx="411480" cy="182880"/>
          </a:xfrm>
          <a:prstGeom prst="rect">
            <a:avLst/>
          </a:prstGeom>
          <a:solidFill>
            <a:srgbClr val="FFF2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คอยล์</a:t>
            </a:r>
          </a:p>
        </p:txBody>
      </p:sp>
      <p:sp>
        <p:nvSpPr>
          <p:cNvPr id="61" name="Terminal GND"/>
          <p:cNvSpPr/>
          <p:nvPr/>
        </p:nvSpPr>
        <p:spPr>
          <a:xfrm>
            <a:off x="6263640" y="6080760"/>
            <a:ext cx="36576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cxnSp>
        <p:nvCxnSpPr>
          <p:cNvPr id="62" name="Connector 61"/>
          <p:cNvCxnSpPr>
            <a:stCxn id="54" idx="2"/>
            <a:endCxn id="59" idx="0"/>
          </p:cNvCxnSpPr>
          <p:nvPr/>
        </p:nvCxnSpPr>
        <p:spPr>
          <a:xfrm flipH="1">
            <a:off x="5966460" y="5166360"/>
            <a:ext cx="0" cy="18288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60" idx="3"/>
            <a:endCxn id="61" idx="1"/>
          </p:cNvCxnSpPr>
          <p:nvPr/>
        </p:nvCxnSpPr>
        <p:spPr>
          <a:xfrm flipV="1">
            <a:off x="6172200" y="6172200"/>
            <a:ext cx="91440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rminal COM"/>
          <p:cNvSpPr/>
          <p:nvPr/>
        </p:nvSpPr>
        <p:spPr>
          <a:xfrm>
            <a:off x="4983480" y="5568696"/>
            <a:ext cx="411480" cy="201168"/>
          </a:xfrm>
          <a:prstGeom prst="rect">
            <a:avLst/>
          </a:prstGeom>
          <a:solidFill>
            <a:srgbClr val="FFF2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</a:t>
            </a:r>
          </a:p>
        </p:txBody>
      </p:sp>
      <p:sp>
        <p:nvSpPr>
          <p:cNvPr id="65" name="Terminal NO"/>
          <p:cNvSpPr/>
          <p:nvPr/>
        </p:nvSpPr>
        <p:spPr>
          <a:xfrm>
            <a:off x="4983480" y="5843016"/>
            <a:ext cx="411480" cy="201168"/>
          </a:xfrm>
          <a:prstGeom prst="rect">
            <a:avLst/>
          </a:prstGeom>
          <a:solidFill>
            <a:srgbClr val="FFF2CC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NO</a:t>
            </a:r>
          </a:p>
        </p:txBody>
      </p:sp>
      <p:cxnSp>
        <p:nvCxnSpPr>
          <p:cNvPr id="66" name="Connector 65"/>
          <p:cNvCxnSpPr>
            <a:stCxn id="8" idx="3"/>
            <a:endCxn id="64" idx="1"/>
          </p:cNvCxnSpPr>
          <p:nvPr/>
        </p:nvCxnSpPr>
        <p:spPr>
          <a:xfrm>
            <a:off x="4535424" y="4849269"/>
            <a:ext cx="448056" cy="820011"/>
          </a:xfrm>
          <a:prstGeom prst="bentConnector3">
            <a:avLst>
              <a:gd name="adj1" fmla="val 85714"/>
            </a:avLst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9" idx="3"/>
            <a:endCxn id="65" idx="1"/>
          </p:cNvCxnSpPr>
          <p:nvPr/>
        </p:nvCxnSpPr>
        <p:spPr>
          <a:xfrm>
            <a:off x="4535424" y="5225648"/>
            <a:ext cx="448056" cy="717952"/>
          </a:xfrm>
          <a:prstGeom prst="bentConnector3">
            <a:avLst>
              <a:gd name="adj1" fmla="val 73469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Door LED"/>
          <p:cNvSpPr/>
          <p:nvPr/>
        </p:nvSpPr>
        <p:spPr>
          <a:xfrm>
            <a:off x="5120640" y="6400800"/>
            <a:ext cx="777240" cy="310896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Door LED photo" descr="led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6437376"/>
            <a:ext cx="190195" cy="237744"/>
          </a:xfrm>
          <a:prstGeom prst="rect">
            <a:avLst/>
          </a:prstGeom>
        </p:spPr>
      </p:pic>
      <p:sp>
        <p:nvSpPr>
          <p:cNvPr id="70" name="Door LED name"/>
          <p:cNvSpPr txBox="1"/>
          <p:nvPr/>
        </p:nvSpPr>
        <p:spPr>
          <a:xfrm>
            <a:off x="5374843" y="6400800"/>
            <a:ext cx="486460" cy="31089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แดง</a:t>
            </a:r>
          </a:p>
          <a:p>
            <a:pPr algn="ctr"/>
            <a:r>
              <a:rPr sz="8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(ซ้าย)</a:t>
            </a:r>
          </a:p>
        </p:txBody>
      </p:sp>
      <p:sp>
        <p:nvSpPr>
          <p:cNvPr id="71" name="R 330"/>
          <p:cNvSpPr/>
          <p:nvPr/>
        </p:nvSpPr>
        <p:spPr>
          <a:xfrm>
            <a:off x="5961888" y="6428232"/>
            <a:ext cx="502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330 Ω</a:t>
            </a:r>
          </a:p>
        </p:txBody>
      </p:sp>
      <p:sp>
        <p:nvSpPr>
          <p:cNvPr id="72" name="Terminal +5V"/>
          <p:cNvSpPr/>
          <p:nvPr/>
        </p:nvSpPr>
        <p:spPr>
          <a:xfrm>
            <a:off x="6519672" y="6455664"/>
            <a:ext cx="365760" cy="201168"/>
          </a:xfrm>
          <a:prstGeom prst="rect">
            <a:avLst/>
          </a:prstGeom>
          <a:solidFill>
            <a:srgbClr val="FDE2E2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+5V</a:t>
            </a:r>
          </a:p>
        </p:txBody>
      </p:sp>
      <p:sp>
        <p:nvSpPr>
          <p:cNvPr id="73" name="Limit switch"/>
          <p:cNvSpPr/>
          <p:nvPr/>
        </p:nvSpPr>
        <p:spPr>
          <a:xfrm>
            <a:off x="5120640" y="6812280"/>
            <a:ext cx="1344168" cy="54864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Limit switch photo" descr="lim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6848856"/>
            <a:ext cx="648392" cy="475488"/>
          </a:xfrm>
          <a:prstGeom prst="rect">
            <a:avLst/>
          </a:prstGeom>
        </p:spPr>
      </p:pic>
      <p:sp>
        <p:nvSpPr>
          <p:cNvPr id="75" name="Limit switch name"/>
          <p:cNvSpPr txBox="1"/>
          <p:nvPr/>
        </p:nvSpPr>
        <p:spPr>
          <a:xfrm>
            <a:off x="5833040" y="6812280"/>
            <a:ext cx="595191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Limit switch</a:t>
            </a:r>
          </a:p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ฝาบน</a:t>
            </a:r>
          </a:p>
        </p:txBody>
      </p:sp>
      <p:sp>
        <p:nvSpPr>
          <p:cNvPr id="76" name="Terminal GND"/>
          <p:cNvSpPr/>
          <p:nvPr/>
        </p:nvSpPr>
        <p:spPr>
          <a:xfrm>
            <a:off x="6519672" y="6986016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77" name="Join"/>
          <p:cNvSpPr/>
          <p:nvPr/>
        </p:nvSpPr>
        <p:spPr>
          <a:xfrm>
            <a:off x="4983480" y="7040880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>
            <a:stCxn id="72" idx="1"/>
            <a:endCxn id="71" idx="3"/>
          </p:cNvCxnSpPr>
          <p:nvPr/>
        </p:nvCxnSpPr>
        <p:spPr>
          <a:xfrm flipH="1" flipV="1">
            <a:off x="6464808" y="6556248"/>
            <a:ext cx="54864" cy="0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71" idx="1"/>
            <a:endCxn id="68" idx="3"/>
          </p:cNvCxnSpPr>
          <p:nvPr/>
        </p:nvCxnSpPr>
        <p:spPr>
          <a:xfrm flipH="1" flipV="1">
            <a:off x="5897880" y="6556248"/>
            <a:ext cx="64008" cy="0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68" idx="1"/>
            <a:endCxn id="77" idx="0"/>
          </p:cNvCxnSpPr>
          <p:nvPr/>
        </p:nvCxnSpPr>
        <p:spPr>
          <a:xfrm flipH="1">
            <a:off x="5029200" y="6556248"/>
            <a:ext cx="91440" cy="484632"/>
          </a:xfrm>
          <a:prstGeom prst="bentConnector2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77" idx="3"/>
            <a:endCxn id="73" idx="1"/>
          </p:cNvCxnSpPr>
          <p:nvPr/>
        </p:nvCxnSpPr>
        <p:spPr>
          <a:xfrm flipV="1">
            <a:off x="5074920" y="7086600"/>
            <a:ext cx="4572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73" idx="3"/>
            <a:endCxn id="76" idx="1"/>
          </p:cNvCxnSpPr>
          <p:nvPr/>
        </p:nvCxnSpPr>
        <p:spPr>
          <a:xfrm flipV="1">
            <a:off x="6464808" y="7086600"/>
            <a:ext cx="54864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10" idx="3"/>
            <a:endCxn id="77" idx="1"/>
          </p:cNvCxnSpPr>
          <p:nvPr/>
        </p:nvCxnSpPr>
        <p:spPr>
          <a:xfrm>
            <a:off x="4535424" y="5413837"/>
            <a:ext cx="448056" cy="1672763"/>
          </a:xfrm>
          <a:prstGeom prst="bentConnector3">
            <a:avLst>
              <a:gd name="adj1" fmla="val 61224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 LED"/>
          <p:cNvSpPr/>
          <p:nvPr/>
        </p:nvSpPr>
        <p:spPr>
          <a:xfrm>
            <a:off x="4983480" y="7571231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330 Ω</a:t>
            </a:r>
          </a:p>
        </p:txBody>
      </p:sp>
      <p:sp>
        <p:nvSpPr>
          <p:cNvPr id="85" name="Status LED"/>
          <p:cNvSpPr/>
          <p:nvPr/>
        </p:nvSpPr>
        <p:spPr>
          <a:xfrm>
            <a:off x="5532120" y="7507223"/>
            <a:ext cx="914400" cy="38404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Status LED photo" descr="led_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6" y="7543799"/>
            <a:ext cx="248716" cy="310896"/>
          </a:xfrm>
          <a:prstGeom prst="rect">
            <a:avLst/>
          </a:prstGeom>
        </p:spPr>
      </p:pic>
      <p:sp>
        <p:nvSpPr>
          <p:cNvPr id="87" name="Status LED name"/>
          <p:cNvSpPr txBox="1"/>
          <p:nvPr/>
        </p:nvSpPr>
        <p:spPr>
          <a:xfrm>
            <a:off x="5844844" y="7507223"/>
            <a:ext cx="565099" cy="38404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เหลือง</a:t>
            </a:r>
          </a:p>
        </p:txBody>
      </p:sp>
      <p:sp>
        <p:nvSpPr>
          <p:cNvPr id="88" name="Terminal GND"/>
          <p:cNvSpPr/>
          <p:nvPr/>
        </p:nvSpPr>
        <p:spPr>
          <a:xfrm>
            <a:off x="6519672" y="75986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cxnSp>
        <p:nvCxnSpPr>
          <p:cNvPr id="89" name="Connector 88"/>
          <p:cNvCxnSpPr>
            <a:stCxn id="11" idx="3"/>
            <a:endCxn id="84" idx="1"/>
          </p:cNvCxnSpPr>
          <p:nvPr/>
        </p:nvCxnSpPr>
        <p:spPr>
          <a:xfrm>
            <a:off x="4535424" y="5602027"/>
            <a:ext cx="448056" cy="2097220"/>
          </a:xfrm>
          <a:prstGeom prst="bentConnector3">
            <a:avLst>
              <a:gd name="adj1" fmla="val 48980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stCxn id="84" idx="3"/>
            <a:endCxn id="85" idx="1"/>
          </p:cNvCxnSpPr>
          <p:nvPr/>
        </p:nvCxnSpPr>
        <p:spPr>
          <a:xfrm flipV="1">
            <a:off x="5458968" y="7699247"/>
            <a:ext cx="73152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>
            <a:stCxn id="85" idx="3"/>
            <a:endCxn id="88" idx="1"/>
          </p:cNvCxnSpPr>
          <p:nvPr/>
        </p:nvCxnSpPr>
        <p:spPr>
          <a:xfrm>
            <a:off x="6446520" y="7699247"/>
            <a:ext cx="7315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 LED"/>
          <p:cNvSpPr/>
          <p:nvPr/>
        </p:nvSpPr>
        <p:spPr>
          <a:xfrm>
            <a:off x="4983480" y="8028431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330 Ω</a:t>
            </a:r>
          </a:p>
        </p:txBody>
      </p:sp>
      <p:sp>
        <p:nvSpPr>
          <p:cNvPr id="93" name="Status LED"/>
          <p:cNvSpPr/>
          <p:nvPr/>
        </p:nvSpPr>
        <p:spPr>
          <a:xfrm>
            <a:off x="5532120" y="7964423"/>
            <a:ext cx="914400" cy="38404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Status LED photo" descr="led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8696" y="8000999"/>
            <a:ext cx="248716" cy="310896"/>
          </a:xfrm>
          <a:prstGeom prst="rect">
            <a:avLst/>
          </a:prstGeom>
        </p:spPr>
      </p:pic>
      <p:sp>
        <p:nvSpPr>
          <p:cNvPr id="95" name="Status LED name"/>
          <p:cNvSpPr txBox="1"/>
          <p:nvPr/>
        </p:nvSpPr>
        <p:spPr>
          <a:xfrm>
            <a:off x="5844844" y="7964423"/>
            <a:ext cx="565099" cy="38404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เขียว</a:t>
            </a:r>
          </a:p>
        </p:txBody>
      </p:sp>
      <p:sp>
        <p:nvSpPr>
          <p:cNvPr id="96" name="Terminal GND"/>
          <p:cNvSpPr/>
          <p:nvPr/>
        </p:nvSpPr>
        <p:spPr>
          <a:xfrm>
            <a:off x="6519672" y="80558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cxnSp>
        <p:nvCxnSpPr>
          <p:cNvPr id="97" name="Connector 96"/>
          <p:cNvCxnSpPr>
            <a:stCxn id="12" idx="3"/>
            <a:endCxn id="92" idx="1"/>
          </p:cNvCxnSpPr>
          <p:nvPr/>
        </p:nvCxnSpPr>
        <p:spPr>
          <a:xfrm>
            <a:off x="4535424" y="5790216"/>
            <a:ext cx="448056" cy="2366231"/>
          </a:xfrm>
          <a:prstGeom prst="bentConnector3">
            <a:avLst>
              <a:gd name="adj1" fmla="val 36735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stCxn id="92" idx="3"/>
            <a:endCxn id="93" idx="1"/>
          </p:cNvCxnSpPr>
          <p:nvPr/>
        </p:nvCxnSpPr>
        <p:spPr>
          <a:xfrm flipV="1">
            <a:off x="5458968" y="8156447"/>
            <a:ext cx="73152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>
            <a:stCxn id="93" idx="3"/>
            <a:endCxn id="96" idx="1"/>
          </p:cNvCxnSpPr>
          <p:nvPr/>
        </p:nvCxnSpPr>
        <p:spPr>
          <a:xfrm>
            <a:off x="6446520" y="8156447"/>
            <a:ext cx="7315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 LED"/>
          <p:cNvSpPr/>
          <p:nvPr/>
        </p:nvSpPr>
        <p:spPr>
          <a:xfrm>
            <a:off x="4983480" y="8485632"/>
            <a:ext cx="4754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330 Ω</a:t>
            </a:r>
          </a:p>
        </p:txBody>
      </p:sp>
      <p:sp>
        <p:nvSpPr>
          <p:cNvPr id="101" name="Status LED"/>
          <p:cNvSpPr/>
          <p:nvPr/>
        </p:nvSpPr>
        <p:spPr>
          <a:xfrm>
            <a:off x="5532120" y="8421624"/>
            <a:ext cx="914400" cy="384048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Status LED photo" descr="led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8458199"/>
            <a:ext cx="248716" cy="310896"/>
          </a:xfrm>
          <a:prstGeom prst="rect">
            <a:avLst/>
          </a:prstGeom>
        </p:spPr>
      </p:pic>
      <p:sp>
        <p:nvSpPr>
          <p:cNvPr id="103" name="Status LED name"/>
          <p:cNvSpPr txBox="1"/>
          <p:nvPr/>
        </p:nvSpPr>
        <p:spPr>
          <a:xfrm>
            <a:off x="5844844" y="8421624"/>
            <a:ext cx="565099" cy="38404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LED แดง</a:t>
            </a:r>
          </a:p>
        </p:txBody>
      </p:sp>
      <p:sp>
        <p:nvSpPr>
          <p:cNvPr id="104" name="Terminal GND"/>
          <p:cNvSpPr/>
          <p:nvPr/>
        </p:nvSpPr>
        <p:spPr>
          <a:xfrm>
            <a:off x="6519672" y="85130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cxnSp>
        <p:nvCxnSpPr>
          <p:cNvPr id="105" name="Connector 104"/>
          <p:cNvCxnSpPr>
            <a:stCxn id="13" idx="3"/>
            <a:endCxn id="100" idx="1"/>
          </p:cNvCxnSpPr>
          <p:nvPr/>
        </p:nvCxnSpPr>
        <p:spPr>
          <a:xfrm>
            <a:off x="4535424" y="5978406"/>
            <a:ext cx="448056" cy="2635242"/>
          </a:xfrm>
          <a:prstGeom prst="bentConnector3">
            <a:avLst>
              <a:gd name="adj1" fmla="val 24490"/>
            </a:avLst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>
            <a:stCxn id="100" idx="3"/>
            <a:endCxn id="101" idx="1"/>
          </p:cNvCxnSpPr>
          <p:nvPr/>
        </p:nvCxnSpPr>
        <p:spPr>
          <a:xfrm flipV="1">
            <a:off x="5458968" y="8613648"/>
            <a:ext cx="73152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>
            <a:stCxn id="101" idx="3"/>
            <a:endCxn id="104" idx="1"/>
          </p:cNvCxnSpPr>
          <p:nvPr/>
        </p:nvCxnSpPr>
        <p:spPr>
          <a:xfrm flipV="1">
            <a:off x="6446520" y="8613648"/>
            <a:ext cx="73152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Status LED title"/>
          <p:cNvSpPr txBox="1"/>
          <p:nvPr/>
        </p:nvSpPr>
        <p:spPr>
          <a:xfrm>
            <a:off x="5532120" y="8833104"/>
            <a:ext cx="173736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9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ไฟสถานะหน้าตู้ (3 ดวง)</a:t>
            </a:r>
          </a:p>
        </p:txBody>
      </p:sp>
      <p:sp>
        <p:nvSpPr>
          <p:cNvPr id="109" name="Push switch"/>
          <p:cNvSpPr/>
          <p:nvPr/>
        </p:nvSpPr>
        <p:spPr>
          <a:xfrm>
            <a:off x="274320" y="4198570"/>
            <a:ext cx="914400" cy="54864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ush switch photo" descr="pus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0896" y="4244290"/>
            <a:ext cx="457200" cy="457200"/>
          </a:xfrm>
          <a:prstGeom prst="rect">
            <a:avLst/>
          </a:prstGeom>
        </p:spPr>
      </p:pic>
      <p:sp>
        <p:nvSpPr>
          <p:cNvPr id="111" name="Push switch name"/>
          <p:cNvSpPr txBox="1"/>
          <p:nvPr/>
        </p:nvSpPr>
        <p:spPr>
          <a:xfrm>
            <a:off x="795528" y="4198570"/>
            <a:ext cx="356616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Push</a:t>
            </a:r>
          </a:p>
          <a:p>
            <a:pPr algn="ctr"/>
            <a:r>
              <a:rPr sz="8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switch</a:t>
            </a:r>
          </a:p>
        </p:txBody>
      </p:sp>
      <p:sp>
        <p:nvSpPr>
          <p:cNvPr id="112" name="Terminal GND"/>
          <p:cNvSpPr/>
          <p:nvPr/>
        </p:nvSpPr>
        <p:spPr>
          <a:xfrm>
            <a:off x="530352" y="4856938"/>
            <a:ext cx="4114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cxnSp>
        <p:nvCxnSpPr>
          <p:cNvPr id="113" name="Connector 112"/>
          <p:cNvCxnSpPr>
            <a:stCxn id="109" idx="3"/>
            <a:endCxn id="14" idx="1"/>
          </p:cNvCxnSpPr>
          <p:nvPr/>
        </p:nvCxnSpPr>
        <p:spPr>
          <a:xfrm flipV="1">
            <a:off x="1188720" y="4472890"/>
            <a:ext cx="36575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stCxn id="109" idx="2"/>
            <a:endCxn id="112" idx="0"/>
          </p:cNvCxnSpPr>
          <p:nvPr/>
        </p:nvCxnSpPr>
        <p:spPr>
          <a:xfrm>
            <a:off x="731520" y="4747210"/>
            <a:ext cx="4572" cy="109728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Push title"/>
          <p:cNvSpPr txBox="1"/>
          <p:nvPr/>
        </p:nvSpPr>
        <p:spPr>
          <a:xfrm>
            <a:off x="228600" y="3942538"/>
            <a:ext cx="100584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9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ปุ่มรีเซ็ต</a:t>
            </a:r>
          </a:p>
        </p:txBody>
      </p:sp>
      <p:sp>
        <p:nvSpPr>
          <p:cNvPr id="116" name="Note frame"/>
          <p:cNvSpPr/>
          <p:nvPr/>
        </p:nvSpPr>
        <p:spPr>
          <a:xfrm>
            <a:off x="274320" y="8138160"/>
            <a:ext cx="4343400" cy="11887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ote text"/>
          <p:cNvSpPr txBox="1"/>
          <p:nvPr/>
        </p:nvSpPr>
        <p:spPr>
          <a:xfrm>
            <a:off x="384048" y="8174736"/>
            <a:ext cx="4160520" cy="1115568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สีของสาย: แดง = ไฟบวก  ดำ = 0V / GND  น้ำเงิน = สัญญาณ</a:t>
            </a:r>
          </a:p>
          <a:p>
            <a:pPr algn="l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GND ทุกจุดต่อร่วมกัน รวมทั้ง 0V ของ Adaptor ทั้ง 2 ชุด</a:t>
            </a:r>
          </a:p>
          <a:p>
            <a:pPr algn="l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ขา 14, 27, 13, 15 ใช้ pull-up ภายใน ESP32 อ่านได้ 0 เมื่อหน้าสัมผัสต่อลง GND</a:t>
            </a:r>
          </a:p>
          <a:p>
            <a:pPr algn="l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ตำแหน่งขาเป็นไปตามบอร์ด ESP32 แบบ 38 ขา (หันช่อง USB ขึ้นด้านบน) ขาที่ใช้งานแสดงด้วยวงสีเหลือง</a:t>
            </a:r>
          </a:p>
          <a:p>
            <a:pPr algn="l"/>
            <a:r>
              <a:rPr sz="9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รูปอุปกรณ์เป็นภาพประกอบ</a:t>
            </a:r>
          </a:p>
        </p:txBody>
      </p:sp>
      <p:sp>
        <p:nvSpPr>
          <p:cNvPr id="118" name="Page number"/>
          <p:cNvSpPr txBox="1"/>
          <p:nvPr/>
        </p:nvSpPr>
        <p:spPr>
          <a:xfrm>
            <a:off x="3323844" y="10332720"/>
            <a:ext cx="91440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fld id="{B6F15528-21DE-4FAA-801E-634DDDAF4B2B}" type="slidenum"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‹#›</a:t>
            </a:fld>
            <a:r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0040" y="274320"/>
            <a:ext cx="6922008" cy="45720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20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วงจรไฟฟ้า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20040" y="713232"/>
            <a:ext cx="6922008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1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วงจรไฟฟ้าของกล่องรับพัสดุอัจฉริยะ เขียนด้วยสัญลักษณ์มาตรฐาน — ตรงกับโปรแกรม iceBox.ino</a:t>
            </a:r>
          </a:p>
        </p:txBody>
      </p:sp>
      <p:pic>
        <p:nvPicPr>
          <p:cNvPr id="4" name="Schematic" descr="schematic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47688" cy="6464877"/>
          </a:xfrm>
          <a:prstGeom prst="rect">
            <a:avLst/>
          </a:prstGeom>
        </p:spPr>
      </p:pic>
      <p:sp>
        <p:nvSpPr>
          <p:cNvPr id="5" name="Parts frame"/>
          <p:cNvSpPr/>
          <p:nvPr/>
        </p:nvSpPr>
        <p:spPr>
          <a:xfrm>
            <a:off x="274320" y="8092440"/>
            <a:ext cx="7013448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ts title"/>
          <p:cNvSpPr txBox="1"/>
          <p:nvPr/>
        </p:nvSpPr>
        <p:spPr>
          <a:xfrm>
            <a:off x="384048" y="8138160"/>
            <a:ext cx="681228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5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รายการอุปกรณ์ในวงจร</a:t>
            </a:r>
          </a:p>
        </p:txBody>
      </p:sp>
      <p:sp>
        <p:nvSpPr>
          <p:cNvPr id="7" name="Parts left"/>
          <p:cNvSpPr txBox="1"/>
          <p:nvPr/>
        </p:nvSpPr>
        <p:spPr>
          <a:xfrm>
            <a:off x="384048" y="8412480"/>
            <a:ext cx="3383280" cy="16916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V1  ไฟบ้าน 220 V AC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S1  สวิตช์กดค้าง ON/OFF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PS1  Adaptor 220 V AC → 5 V DC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PS2  Adaptor 220 V AC → 9 V DC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U1  ESP32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U2  Photo sensor OPTEX ZD-70P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K1  Relay (หน้าสัมผัส NO)</a:t>
            </a:r>
          </a:p>
        </p:txBody>
      </p:sp>
      <p:sp>
        <p:nvSpPr>
          <p:cNvPr id="8" name="Parts right"/>
          <p:cNvSpPr txBox="1"/>
          <p:nvPr/>
        </p:nvSpPr>
        <p:spPr>
          <a:xfrm>
            <a:off x="3840480" y="8412480"/>
            <a:ext cx="3383280" cy="16916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S2  Limit switch ฝาบน (ประตูรับพัสดุเข้า)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S3  Limit switch ฝาล่าง (ประตูนำพัสดุออก)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S4  Push switch (ปุ่มรีเซ็ต)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R1–R3 (330 Ω), D1–D3  ไฟสถานะหน้าตู้ แดง เหลือง เขียว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R4, D4  LED แดง (ซ้าย) ติดเมื่อประตูบนเปิด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R5, D5  LED แดง (ขวา) ติดเมื่อประตูล่างเปิด</a:t>
            </a:r>
          </a:p>
          <a:p>
            <a:pPr algn="l"/>
            <a:r>
              <a:rPr sz="9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รูปวงจรเป็นรูปภาพ ไฟล์ต้นฉบับที่แก้ไขได้คือไฟล์ .svg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3323844" y="10332720"/>
            <a:ext cx="91440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fld id="{B6F15528-21DE-4FAA-801E-634DDDAF4B2B}" type="slidenum"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‹#›</a:t>
            </a:fld>
            <a:r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0040" y="274320"/>
            <a:ext cx="6922008" cy="45720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200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Flowchart การทำงานของโปรแกรม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20040" y="713232"/>
            <a:ext cx="6922008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1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โปรแกรมใน ESP32 ของกล่องรับพัสดุอัจฉริยะ — เริ่มต้นครั้งเดียว แล้ววนตรวจซ้ำตลอดเวลา</a:t>
            </a:r>
          </a:p>
        </p:txBody>
      </p:sp>
      <p:sp>
        <p:nvSpPr>
          <p:cNvPr id="4" name="Start"/>
          <p:cNvSpPr/>
          <p:nvPr/>
        </p:nvSpPr>
        <p:spPr>
          <a:xfrm>
            <a:off x="320040" y="1234440"/>
            <a:ext cx="1737360" cy="457200"/>
          </a:xfrm>
          <a:prstGeom prst="flowChartTerminator">
            <a:avLst/>
          </a:prstGeom>
          <a:solidFill>
            <a:srgbClr val="1F2937"/>
          </a:solidFill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 lang="th-TH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เริ่มต้น (เปิดเครื่อง)</a:t>
            </a:r>
          </a:p>
        </p:txBody>
      </p:sp>
      <p:sp>
        <p:nvSpPr>
          <p:cNvPr id="5" name="Setup 1"/>
          <p:cNvSpPr/>
          <p:nvPr/>
        </p:nvSpPr>
        <p:spPr>
          <a:xfrm>
            <a:off x="320040" y="2011680"/>
            <a:ext cx="1737360" cy="68580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ตั้งค่าขาอินพุต/เอาต์พุต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ทดสอบ LED 3 ดวง</a:t>
            </a:r>
          </a:p>
        </p:txBody>
      </p:sp>
      <p:sp>
        <p:nvSpPr>
          <p:cNvPr id="6" name="Setup 2"/>
          <p:cNvSpPr/>
          <p:nvPr/>
        </p:nvSpPr>
        <p:spPr>
          <a:xfrm>
            <a:off x="320040" y="3017520"/>
            <a:ext cx="1737360" cy="68580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อ่านจำนวนพัสดุ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ที่จำไว้ใน Flash</a:t>
            </a:r>
          </a:p>
        </p:txBody>
      </p:sp>
      <p:sp>
        <p:nvSpPr>
          <p:cNvPr id="7" name="Setup 3"/>
          <p:cNvSpPr/>
          <p:nvPr/>
        </p:nvSpPr>
        <p:spPr>
          <a:xfrm>
            <a:off x="320040" y="4023360"/>
            <a:ext cx="1737360" cy="86868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เชื่อมต่อ WiFi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(ต่อไม่ได้ → เปิดหน้า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ตั้งค่าทางมือถือ)</a:t>
            </a:r>
          </a:p>
        </p:txBody>
      </p:sp>
      <p:sp>
        <p:nvSpPr>
          <p:cNvPr id="8" name="Setup 4"/>
          <p:cNvSpPr/>
          <p:nvPr/>
        </p:nvSpPr>
        <p:spPr>
          <a:xfrm>
            <a:off x="320040" y="5212080"/>
            <a:ext cx="1737360" cy="68580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“ระบบเริ่มทำงาน”</a:t>
            </a:r>
          </a:p>
        </p:txBody>
      </p:sp>
      <p:cxnSp>
        <p:nvCxnSpPr>
          <p:cNvPr id="9" name="Connector 8"/>
          <p:cNvCxnSpPr>
            <a:stCxn id="4" idx="2"/>
            <a:endCxn id="5" idx="0"/>
          </p:cNvCxnSpPr>
          <p:nvPr/>
        </p:nvCxnSpPr>
        <p:spPr>
          <a:xfrm flipH="1">
            <a:off x="1188720" y="1691640"/>
            <a:ext cx="0" cy="32004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5" idx="2"/>
            <a:endCxn id="6" idx="0"/>
          </p:cNvCxnSpPr>
          <p:nvPr/>
        </p:nvCxnSpPr>
        <p:spPr>
          <a:xfrm flipH="1">
            <a:off x="1188720" y="2697480"/>
            <a:ext cx="0" cy="32004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2"/>
            <a:endCxn id="7" idx="0"/>
          </p:cNvCxnSpPr>
          <p:nvPr/>
        </p:nvCxnSpPr>
        <p:spPr>
          <a:xfrm flipH="1">
            <a:off x="1188720" y="3703320"/>
            <a:ext cx="0" cy="32004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7" idx="2"/>
            <a:endCxn id="8" idx="0"/>
          </p:cNvCxnSpPr>
          <p:nvPr/>
        </p:nvCxnSpPr>
        <p:spPr>
          <a:xfrm flipH="1">
            <a:off x="1188720" y="4892040"/>
            <a:ext cx="0" cy="32004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oop start"/>
          <p:cNvSpPr/>
          <p:nvPr/>
        </p:nvSpPr>
        <p:spPr>
          <a:xfrm>
            <a:off x="2514600" y="1188720"/>
            <a:ext cx="2103120" cy="59436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ตรวจการเชื่อมต่อ WiFi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(ถ้าหลุด → ลองต่อใหม่)</a:t>
            </a:r>
          </a:p>
        </p:txBody>
      </p:sp>
      <p:cxnSp>
        <p:nvCxnSpPr>
          <p:cNvPr id="14" name="Connector 13"/>
          <p:cNvCxnSpPr>
            <a:stCxn id="8" idx="3"/>
            <a:endCxn id="13" idx="1"/>
          </p:cNvCxnSpPr>
          <p:nvPr/>
        </p:nvCxnSpPr>
        <p:spPr>
          <a:xfrm flipV="1">
            <a:off x="2057400" y="1485900"/>
            <a:ext cx="457200" cy="4069080"/>
          </a:xfrm>
          <a:prstGeom prst="bentConnector3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"/>
          <p:cNvSpPr/>
          <p:nvPr/>
        </p:nvSpPr>
        <p:spPr>
          <a:xfrm>
            <a:off x="2514600" y="21488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มีพัสดุ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ผ่าน Sensor ?</a:t>
            </a:r>
          </a:p>
        </p:txBody>
      </p:sp>
      <p:sp>
        <p:nvSpPr>
          <p:cNvPr id="16" name="Action 1"/>
          <p:cNvSpPr/>
          <p:nvPr/>
        </p:nvSpPr>
        <p:spPr>
          <a:xfrm>
            <a:off x="4983480" y="2240280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จำนวนพัสดุ + 1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บันทึกลง Flash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 “มีพัสดุมาส่ง”</a:t>
            </a:r>
          </a:p>
        </p:txBody>
      </p:sp>
      <p:sp>
        <p:nvSpPr>
          <p:cNvPr id="17" name="Join 1"/>
          <p:cNvSpPr/>
          <p:nvPr/>
        </p:nvSpPr>
        <p:spPr>
          <a:xfrm>
            <a:off x="3520440" y="3246120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>
            <a:stCxn id="13" idx="2"/>
            <a:endCxn id="15" idx="0"/>
          </p:cNvCxnSpPr>
          <p:nvPr/>
        </p:nvCxnSpPr>
        <p:spPr>
          <a:xfrm flipH="1">
            <a:off x="3566160" y="1783080"/>
            <a:ext cx="0" cy="36576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5" idx="3"/>
            <a:endCxn id="16" idx="1"/>
          </p:cNvCxnSpPr>
          <p:nvPr/>
        </p:nvCxnSpPr>
        <p:spPr>
          <a:xfrm flipV="1">
            <a:off x="4617720" y="2606040"/>
            <a:ext cx="3657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5" idx="2"/>
            <a:endCxn id="17" idx="0"/>
          </p:cNvCxnSpPr>
          <p:nvPr/>
        </p:nvCxnSpPr>
        <p:spPr>
          <a:xfrm flipH="1">
            <a:off x="3566160" y="306324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7" idx="3"/>
            <a:endCxn id="16" idx="2"/>
          </p:cNvCxnSpPr>
          <p:nvPr/>
        </p:nvCxnSpPr>
        <p:spPr>
          <a:xfrm flipV="1">
            <a:off x="3611880" y="2971800"/>
            <a:ext cx="2240280" cy="320040"/>
          </a:xfrm>
          <a:prstGeom prst="bentConnector2">
            <a:avLst/>
          </a:prstGeom>
          <a:ln w="19050">
            <a:solidFill>
              <a:srgbClr val="1F29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Yes 1"/>
          <p:cNvSpPr txBox="1"/>
          <p:nvPr/>
        </p:nvSpPr>
        <p:spPr>
          <a:xfrm>
            <a:off x="4636007" y="23591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23" name="No 1"/>
          <p:cNvSpPr txBox="1"/>
          <p:nvPr/>
        </p:nvSpPr>
        <p:spPr>
          <a:xfrm>
            <a:off x="3017520" y="30449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sp>
        <p:nvSpPr>
          <p:cNvPr id="24" name="Decision 2"/>
          <p:cNvSpPr/>
          <p:nvPr/>
        </p:nvSpPr>
        <p:spPr>
          <a:xfrm>
            <a:off x="2514600" y="35204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Sensor ถูกบังค้าง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ครบ 10 วินาที ?</a:t>
            </a:r>
          </a:p>
        </p:txBody>
      </p:sp>
      <p:sp>
        <p:nvSpPr>
          <p:cNvPr id="25" name="Action 2"/>
          <p:cNvSpPr/>
          <p:nvPr/>
        </p:nvSpPr>
        <p:spPr>
          <a:xfrm>
            <a:off x="4983480" y="3611880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สถานะ = ตู้เต็ม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“ตู้พัสดุเต็มแล้ว”</a:t>
            </a:r>
          </a:p>
        </p:txBody>
      </p:sp>
      <p:sp>
        <p:nvSpPr>
          <p:cNvPr id="26" name="Join 2"/>
          <p:cNvSpPr/>
          <p:nvPr/>
        </p:nvSpPr>
        <p:spPr>
          <a:xfrm>
            <a:off x="3520440" y="4617720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>
            <a:stCxn id="17" idx="2"/>
            <a:endCxn id="24" idx="0"/>
          </p:cNvCxnSpPr>
          <p:nvPr/>
        </p:nvCxnSpPr>
        <p:spPr>
          <a:xfrm flipH="1">
            <a:off x="3566160" y="3337560"/>
            <a:ext cx="0" cy="18288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24" idx="3"/>
            <a:endCxn id="25" idx="1"/>
          </p:cNvCxnSpPr>
          <p:nvPr/>
        </p:nvCxnSpPr>
        <p:spPr>
          <a:xfrm flipV="1">
            <a:off x="4617720" y="3977640"/>
            <a:ext cx="3657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4" idx="2"/>
            <a:endCxn id="26" idx="0"/>
          </p:cNvCxnSpPr>
          <p:nvPr/>
        </p:nvCxnSpPr>
        <p:spPr>
          <a:xfrm flipH="1">
            <a:off x="3566160" y="443484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6" idx="3"/>
            <a:endCxn id="25" idx="2"/>
          </p:cNvCxnSpPr>
          <p:nvPr/>
        </p:nvCxnSpPr>
        <p:spPr>
          <a:xfrm flipV="1">
            <a:off x="3611880" y="4343400"/>
            <a:ext cx="2240280" cy="320040"/>
          </a:xfrm>
          <a:prstGeom prst="bentConnector2">
            <a:avLst/>
          </a:prstGeom>
          <a:ln w="19050">
            <a:solidFill>
              <a:srgbClr val="1F29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Yes 2"/>
          <p:cNvSpPr txBox="1"/>
          <p:nvPr/>
        </p:nvSpPr>
        <p:spPr>
          <a:xfrm>
            <a:off x="4636007" y="37307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32" name="No 2"/>
          <p:cNvSpPr txBox="1"/>
          <p:nvPr/>
        </p:nvSpPr>
        <p:spPr>
          <a:xfrm>
            <a:off x="3017520" y="44165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sp>
        <p:nvSpPr>
          <p:cNvPr id="33" name="Decision 3"/>
          <p:cNvSpPr/>
          <p:nvPr/>
        </p:nvSpPr>
        <p:spPr>
          <a:xfrm>
            <a:off x="2514600" y="48920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กดปุ่มรีเซ็ต ?</a:t>
            </a:r>
          </a:p>
        </p:txBody>
      </p:sp>
      <p:sp>
        <p:nvSpPr>
          <p:cNvPr id="34" name="Action 3"/>
          <p:cNvSpPr/>
          <p:nvPr/>
        </p:nvSpPr>
        <p:spPr>
          <a:xfrm>
            <a:off x="4983480" y="4983479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จำนวนพัสดุ = 0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“รับพัสดุแล้ว”</a:t>
            </a:r>
          </a:p>
        </p:txBody>
      </p:sp>
      <p:sp>
        <p:nvSpPr>
          <p:cNvPr id="35" name="Join 3"/>
          <p:cNvSpPr/>
          <p:nvPr/>
        </p:nvSpPr>
        <p:spPr>
          <a:xfrm>
            <a:off x="3520440" y="5989320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>
            <a:stCxn id="26" idx="2"/>
            <a:endCxn id="33" idx="0"/>
          </p:cNvCxnSpPr>
          <p:nvPr/>
        </p:nvCxnSpPr>
        <p:spPr>
          <a:xfrm flipH="1">
            <a:off x="3566160" y="4709160"/>
            <a:ext cx="0" cy="18288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33" idx="3"/>
            <a:endCxn id="34" idx="1"/>
          </p:cNvCxnSpPr>
          <p:nvPr/>
        </p:nvCxnSpPr>
        <p:spPr>
          <a:xfrm flipV="1">
            <a:off x="4617720" y="5349239"/>
            <a:ext cx="365760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33" idx="2"/>
            <a:endCxn id="35" idx="0"/>
          </p:cNvCxnSpPr>
          <p:nvPr/>
        </p:nvCxnSpPr>
        <p:spPr>
          <a:xfrm flipH="1">
            <a:off x="3566160" y="5806440"/>
            <a:ext cx="0" cy="18288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35" idx="3"/>
            <a:endCxn id="34" idx="2"/>
          </p:cNvCxnSpPr>
          <p:nvPr/>
        </p:nvCxnSpPr>
        <p:spPr>
          <a:xfrm flipV="1">
            <a:off x="3611880" y="5714999"/>
            <a:ext cx="2240280" cy="320041"/>
          </a:xfrm>
          <a:prstGeom prst="bentConnector2">
            <a:avLst/>
          </a:prstGeom>
          <a:ln w="19050">
            <a:solidFill>
              <a:srgbClr val="1F29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Yes 3"/>
          <p:cNvSpPr txBox="1"/>
          <p:nvPr/>
        </p:nvSpPr>
        <p:spPr>
          <a:xfrm>
            <a:off x="4636007" y="51023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41" name="No 3"/>
          <p:cNvSpPr txBox="1"/>
          <p:nvPr/>
        </p:nvSpPr>
        <p:spPr>
          <a:xfrm>
            <a:off x="3017520" y="57881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sp>
        <p:nvSpPr>
          <p:cNvPr id="42" name="Decision 4"/>
          <p:cNvSpPr/>
          <p:nvPr/>
        </p:nvSpPr>
        <p:spPr>
          <a:xfrm>
            <a:off x="2514600" y="62636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ประตูรับพัสดุเข้า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เปิด หรือ ปิด ?</a:t>
            </a:r>
          </a:p>
        </p:txBody>
      </p:sp>
      <p:sp>
        <p:nvSpPr>
          <p:cNvPr id="43" name="Action 4"/>
          <p:cNvSpPr/>
          <p:nvPr/>
        </p:nvSpPr>
        <p:spPr>
          <a:xfrm>
            <a:off x="4983480" y="6355079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“ประตูเปิด / ปิด”</a:t>
            </a:r>
          </a:p>
        </p:txBody>
      </p:sp>
      <p:sp>
        <p:nvSpPr>
          <p:cNvPr id="44" name="Join 4"/>
          <p:cNvSpPr/>
          <p:nvPr/>
        </p:nvSpPr>
        <p:spPr>
          <a:xfrm>
            <a:off x="3520440" y="7360919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>
            <a:stCxn id="35" idx="2"/>
            <a:endCxn id="42" idx="0"/>
          </p:cNvCxnSpPr>
          <p:nvPr/>
        </p:nvCxnSpPr>
        <p:spPr>
          <a:xfrm flipH="1">
            <a:off x="3566160" y="6080760"/>
            <a:ext cx="0" cy="18288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42" idx="3"/>
            <a:endCxn id="43" idx="1"/>
          </p:cNvCxnSpPr>
          <p:nvPr/>
        </p:nvCxnSpPr>
        <p:spPr>
          <a:xfrm flipV="1">
            <a:off x="4617720" y="6720839"/>
            <a:ext cx="365760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42" idx="2"/>
            <a:endCxn id="44" idx="0"/>
          </p:cNvCxnSpPr>
          <p:nvPr/>
        </p:nvCxnSpPr>
        <p:spPr>
          <a:xfrm flipH="1">
            <a:off x="3566160" y="7178040"/>
            <a:ext cx="0" cy="182879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44" idx="3"/>
            <a:endCxn id="43" idx="2"/>
          </p:cNvCxnSpPr>
          <p:nvPr/>
        </p:nvCxnSpPr>
        <p:spPr>
          <a:xfrm flipV="1">
            <a:off x="3611880" y="7086599"/>
            <a:ext cx="2240280" cy="320040"/>
          </a:xfrm>
          <a:prstGeom prst="bentConnector2">
            <a:avLst/>
          </a:prstGeom>
          <a:ln w="19050">
            <a:solidFill>
              <a:srgbClr val="1F29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Yes 4"/>
          <p:cNvSpPr txBox="1"/>
          <p:nvPr/>
        </p:nvSpPr>
        <p:spPr>
          <a:xfrm>
            <a:off x="4636007" y="64739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50" name="No 4"/>
          <p:cNvSpPr txBox="1"/>
          <p:nvPr/>
        </p:nvSpPr>
        <p:spPr>
          <a:xfrm>
            <a:off x="3017520" y="71597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sp>
        <p:nvSpPr>
          <p:cNvPr id="51" name="Decision 5"/>
          <p:cNvSpPr/>
          <p:nvPr/>
        </p:nvSpPr>
        <p:spPr>
          <a:xfrm>
            <a:off x="2514600" y="76352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ประตูนำพัสดุออก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เปิด หรือ ปิด ?</a:t>
            </a:r>
          </a:p>
        </p:txBody>
      </p:sp>
      <p:sp>
        <p:nvSpPr>
          <p:cNvPr id="52" name="Action 5"/>
          <p:cNvSpPr/>
          <p:nvPr/>
        </p:nvSpPr>
        <p:spPr>
          <a:xfrm>
            <a:off x="4983480" y="7726679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ถ้าเปิด: จำนวนพัสดุ = 0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แจ้งเตือน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“ประตูเปิด / ปิด”</a:t>
            </a:r>
          </a:p>
        </p:txBody>
      </p:sp>
      <p:sp>
        <p:nvSpPr>
          <p:cNvPr id="53" name="Join 5"/>
          <p:cNvSpPr/>
          <p:nvPr/>
        </p:nvSpPr>
        <p:spPr>
          <a:xfrm>
            <a:off x="3520440" y="8732519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>
            <a:stCxn id="44" idx="2"/>
            <a:endCxn id="51" idx="0"/>
          </p:cNvCxnSpPr>
          <p:nvPr/>
        </p:nvCxnSpPr>
        <p:spPr>
          <a:xfrm flipH="1">
            <a:off x="3566160" y="7452359"/>
            <a:ext cx="0" cy="18288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51" idx="3"/>
            <a:endCxn id="52" idx="1"/>
          </p:cNvCxnSpPr>
          <p:nvPr/>
        </p:nvCxnSpPr>
        <p:spPr>
          <a:xfrm flipV="1">
            <a:off x="4617720" y="8092439"/>
            <a:ext cx="365760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51" idx="2"/>
            <a:endCxn id="53" idx="0"/>
          </p:cNvCxnSpPr>
          <p:nvPr/>
        </p:nvCxnSpPr>
        <p:spPr>
          <a:xfrm flipH="1">
            <a:off x="3566160" y="8549640"/>
            <a:ext cx="0" cy="182879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53" idx="3"/>
            <a:endCxn id="52" idx="2"/>
          </p:cNvCxnSpPr>
          <p:nvPr/>
        </p:nvCxnSpPr>
        <p:spPr>
          <a:xfrm flipV="1">
            <a:off x="3611880" y="8458199"/>
            <a:ext cx="2240280" cy="320040"/>
          </a:xfrm>
          <a:prstGeom prst="bentConnector2">
            <a:avLst/>
          </a:prstGeom>
          <a:ln w="19050">
            <a:solidFill>
              <a:srgbClr val="1F29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Yes 5"/>
          <p:cNvSpPr txBox="1"/>
          <p:nvPr/>
        </p:nvSpPr>
        <p:spPr>
          <a:xfrm>
            <a:off x="4636007" y="78455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59" name="No 5"/>
          <p:cNvSpPr txBox="1"/>
          <p:nvPr/>
        </p:nvSpPr>
        <p:spPr>
          <a:xfrm>
            <a:off x="3017520" y="85313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sp>
        <p:nvSpPr>
          <p:cNvPr id="60" name="Decision 6"/>
          <p:cNvSpPr/>
          <p:nvPr/>
        </p:nvSpPr>
        <p:spPr>
          <a:xfrm>
            <a:off x="2514600" y="9006840"/>
            <a:ext cx="2103120" cy="914400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27432" bIns="27432"/>
          <a:lstStyle/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ครบ 3 วินาที</a:t>
            </a:r>
          </a:p>
          <a:p>
            <a:pPr algn="ctr"/>
            <a:r>
              <a:rPr sz="105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แล้วหรือยัง ?</a:t>
            </a:r>
          </a:p>
        </p:txBody>
      </p:sp>
      <p:sp>
        <p:nvSpPr>
          <p:cNvPr id="61" name="Action 6"/>
          <p:cNvSpPr/>
          <p:nvPr/>
        </p:nvSpPr>
        <p:spPr>
          <a:xfrm>
            <a:off x="4983480" y="9098280"/>
            <a:ext cx="1737360" cy="731520"/>
          </a:xfrm>
          <a:prstGeom prst="flowChartProcess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ส่งสถานะล่าสุด</a:t>
            </a:r>
          </a:p>
          <a:p>
            <a:pPr algn="ctr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ขึ้น Firebase</a:t>
            </a:r>
          </a:p>
        </p:txBody>
      </p:sp>
      <p:sp>
        <p:nvSpPr>
          <p:cNvPr id="62" name="Join 6"/>
          <p:cNvSpPr/>
          <p:nvPr/>
        </p:nvSpPr>
        <p:spPr>
          <a:xfrm>
            <a:off x="3520440" y="10104119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>
            <a:stCxn id="53" idx="2"/>
            <a:endCxn id="60" idx="0"/>
          </p:cNvCxnSpPr>
          <p:nvPr/>
        </p:nvCxnSpPr>
        <p:spPr>
          <a:xfrm flipH="1">
            <a:off x="3566160" y="8823959"/>
            <a:ext cx="0" cy="18288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stCxn id="60" idx="3"/>
            <a:endCxn id="61" idx="1"/>
          </p:cNvCxnSpPr>
          <p:nvPr/>
        </p:nvCxnSpPr>
        <p:spPr>
          <a:xfrm flipV="1">
            <a:off x="4617720" y="9464040"/>
            <a:ext cx="365760" cy="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60" idx="2"/>
            <a:endCxn id="62" idx="0"/>
          </p:cNvCxnSpPr>
          <p:nvPr/>
        </p:nvCxnSpPr>
        <p:spPr>
          <a:xfrm flipH="1">
            <a:off x="3566160" y="9921240"/>
            <a:ext cx="0" cy="182879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Join loop"/>
          <p:cNvSpPr/>
          <p:nvPr/>
        </p:nvSpPr>
        <p:spPr>
          <a:xfrm>
            <a:off x="5806440" y="10104119"/>
            <a:ext cx="91440" cy="91440"/>
          </a:xfrm>
          <a:prstGeom prst="diamond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>
            <a:stCxn id="61" idx="2"/>
            <a:endCxn id="66" idx="0"/>
          </p:cNvCxnSpPr>
          <p:nvPr/>
        </p:nvCxnSpPr>
        <p:spPr>
          <a:xfrm flipH="1">
            <a:off x="5852160" y="9829800"/>
            <a:ext cx="0" cy="274319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62" idx="3"/>
            <a:endCxn id="66" idx="1"/>
          </p:cNvCxnSpPr>
          <p:nvPr/>
        </p:nvCxnSpPr>
        <p:spPr>
          <a:xfrm flipV="1">
            <a:off x="3611880" y="10149839"/>
            <a:ext cx="219456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Yes 6"/>
          <p:cNvSpPr txBox="1"/>
          <p:nvPr/>
        </p:nvSpPr>
        <p:spPr>
          <a:xfrm>
            <a:off x="4636007" y="921715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2E7D32"/>
                </a:solidFill>
                <a:latin typeface="Tahoma"/>
                <a:ea typeface="Tahoma"/>
                <a:cs typeface="Tahoma"/>
              </a:rPr>
              <a:t>ใช่</a:t>
            </a:r>
          </a:p>
        </p:txBody>
      </p:sp>
      <p:sp>
        <p:nvSpPr>
          <p:cNvPr id="70" name="No 6"/>
          <p:cNvSpPr txBox="1"/>
          <p:nvPr/>
        </p:nvSpPr>
        <p:spPr>
          <a:xfrm>
            <a:off x="3017520" y="9902952"/>
            <a:ext cx="475488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1" lang="th-TH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ไม่ใช่</a:t>
            </a:r>
          </a:p>
        </p:txBody>
      </p:sp>
      <p:cxnSp>
        <p:nvCxnSpPr>
          <p:cNvPr id="71" name="Connector 70"/>
          <p:cNvCxnSpPr>
            <a:stCxn id="66" idx="3"/>
            <a:endCxn id="13" idx="3"/>
          </p:cNvCxnSpPr>
          <p:nvPr/>
        </p:nvCxnSpPr>
        <p:spPr>
          <a:xfrm flipH="1" flipV="1">
            <a:off x="4617720" y="1485900"/>
            <a:ext cx="1280160" cy="8663939"/>
          </a:xfrm>
          <a:prstGeom prst="bentConnector3">
            <a:avLst>
              <a:gd name="adj1" fmla="val -90714"/>
            </a:avLst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Loop label"/>
          <p:cNvSpPr txBox="1"/>
          <p:nvPr/>
        </p:nvSpPr>
        <p:spPr>
          <a:xfrm>
            <a:off x="3749039" y="9893808"/>
            <a:ext cx="2057400" cy="2194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วนกลับไปตรวจใหม่ (ทำซ้ำตลอดเวลา)</a:t>
            </a:r>
          </a:p>
        </p:txBody>
      </p:sp>
      <p:sp>
        <p:nvSpPr>
          <p:cNvPr id="73" name="Legend frame"/>
          <p:cNvSpPr/>
          <p:nvPr/>
        </p:nvSpPr>
        <p:spPr>
          <a:xfrm>
            <a:off x="320040" y="6400800"/>
            <a:ext cx="1737360" cy="3429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title"/>
          <p:cNvSpPr txBox="1"/>
          <p:nvPr/>
        </p:nvSpPr>
        <p:spPr>
          <a:xfrm>
            <a:off x="320040" y="6446520"/>
            <a:ext cx="173736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5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สัญลักษณ์</a:t>
            </a:r>
          </a:p>
        </p:txBody>
      </p:sp>
      <p:sp>
        <p:nvSpPr>
          <p:cNvPr id="75" name="Legend start"/>
          <p:cNvSpPr/>
          <p:nvPr/>
        </p:nvSpPr>
        <p:spPr>
          <a:xfrm>
            <a:off x="457200" y="6784848"/>
            <a:ext cx="566928" cy="256032"/>
          </a:xfrm>
          <a:prstGeom prst="flowChartTerminator">
            <a:avLst/>
          </a:prstGeom>
          <a:solidFill>
            <a:srgbClr val="1F2937"/>
          </a:solidFill>
          <a:ln w="1587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9848" y="6784848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เริ่มต้น</a:t>
            </a:r>
          </a:p>
        </p:txBody>
      </p:sp>
      <p:sp>
        <p:nvSpPr>
          <p:cNvPr id="77" name="Legend process"/>
          <p:cNvSpPr/>
          <p:nvPr/>
        </p:nvSpPr>
        <p:spPr>
          <a:xfrm>
            <a:off x="457200" y="7168896"/>
            <a:ext cx="566928" cy="274320"/>
          </a:xfrm>
          <a:prstGeom prst="flowChartProcess">
            <a:avLst/>
          </a:prstGeom>
          <a:solidFill>
            <a:srgbClr val="E3ECF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9848" y="7168896"/>
            <a:ext cx="96012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การทำงาน</a:t>
            </a:r>
          </a:p>
        </p:txBody>
      </p:sp>
      <p:sp>
        <p:nvSpPr>
          <p:cNvPr id="79" name="Legend decision"/>
          <p:cNvSpPr/>
          <p:nvPr/>
        </p:nvSpPr>
        <p:spPr>
          <a:xfrm>
            <a:off x="457200" y="7552944"/>
            <a:ext cx="566928" cy="347472"/>
          </a:xfrm>
          <a:prstGeom prst="flowChartDecision">
            <a:avLst/>
          </a:prstGeom>
          <a:solidFill>
            <a:srgbClr val="FFF2CC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9848" y="7589520"/>
            <a:ext cx="96012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ตัดสินใจ</a:t>
            </a:r>
          </a:p>
        </p:txBody>
      </p:sp>
      <p:sp>
        <p:nvSpPr>
          <p:cNvPr id="81" name="Note title"/>
          <p:cNvSpPr txBox="1"/>
          <p:nvPr/>
        </p:nvSpPr>
        <p:spPr>
          <a:xfrm>
            <a:off x="411480" y="8065008"/>
            <a:ext cx="1554480" cy="27432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r>
              <a:rPr sz="1050" b="1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หมายเหตุ</a:t>
            </a:r>
          </a:p>
        </p:txBody>
      </p:sp>
      <p:sp>
        <p:nvSpPr>
          <p:cNvPr id="82" name="Note text"/>
          <p:cNvSpPr txBox="1"/>
          <p:nvPr/>
        </p:nvSpPr>
        <p:spPr>
          <a:xfrm>
            <a:off x="411480" y="8339327"/>
            <a:ext cx="1554480" cy="182880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“แจ้งเตือน” คือส่งข้อความเข้า Telegram และอัปเดตข้อมูลใน Firebase ให้ Dashboard</a:t>
            </a:r>
          </a:p>
          <a:p>
            <a:pPr algn="l"/>
          </a:p>
          <a:p>
            <a:pPr algn="l"/>
            <a:r>
              <a:rPr sz="1000" b="0" lang="th-TH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ไฟ LED หน้าตู้ทำงานแยกจากวงรอบนี้ โดยอัปเดตเองทุก 0.1 วินาที</a:t>
            </a:r>
          </a:p>
        </p:txBody>
      </p:sp>
      <p:sp>
        <p:nvSpPr>
          <p:cNvPr id="83" name="Page number"/>
          <p:cNvSpPr txBox="1"/>
          <p:nvPr/>
        </p:nvSpPr>
        <p:spPr>
          <a:xfrm>
            <a:off x="3323844" y="10332720"/>
            <a:ext cx="914400" cy="237744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ctr"/>
            <a:fld id="{B6F15528-21DE-4FAA-801E-634DDDAF4B2B}" type="slidenum"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‹#›</a:t>
            </a:fld>
            <a:r>
              <a:rPr sz="1000" b="0" lang="th-TH">
                <a:solidFill>
                  <a:srgbClr val="4B5563"/>
                </a:solidFill>
                <a:latin typeface="Tahoma"/>
                <a:ea typeface="Tahoma"/>
                <a:cs typeface="Tahoma"/>
              </a:rPr>
              <a:t>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